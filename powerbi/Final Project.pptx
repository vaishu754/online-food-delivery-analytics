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eague Spartan" charset="1" panose="00000800000000000000"/>
      <p:regular r:id="rId18"/>
    </p:embeddedFont>
    <p:embeddedFont>
      <p:font typeface="Archivo Black" charset="1" panose="020B0A03020202020B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45782" y="727367"/>
            <a:ext cx="9846085" cy="141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b="true" sz="8265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1233" y="2721375"/>
            <a:ext cx="17986767" cy="6166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7"/>
              </a:lnSpc>
              <a:spcBef>
                <a:spcPct val="0"/>
              </a:spcBef>
            </a:pPr>
            <a:r>
              <a:rPr lang="en-US" sz="3919">
                <a:solidFill>
                  <a:srgbClr val="004AAD"/>
                </a:solidFill>
                <a:latin typeface="Archivo Black"/>
                <a:ea typeface="Archivo Black"/>
                <a:cs typeface="Archivo Black"/>
                <a:sym typeface="Archivo Black"/>
              </a:rPr>
              <a:t>ONLINE FOOD DELIVERY ANALYTICS</a:t>
            </a:r>
          </a:p>
          <a:p>
            <a:pPr algn="ctr">
              <a:lnSpc>
                <a:spcPts val="5487"/>
              </a:lnSpc>
              <a:spcBef>
                <a:spcPct val="0"/>
              </a:spcBef>
            </a:pPr>
            <a:r>
              <a:rPr lang="en-US" sz="3919">
                <a:solidFill>
                  <a:srgbClr val="004AAD"/>
                </a:solidFill>
                <a:latin typeface="Archivo Black"/>
                <a:ea typeface="Archivo Black"/>
                <a:cs typeface="Archivo Black"/>
                <a:sym typeface="Archivo Black"/>
              </a:rPr>
              <a:t>End-to-End Data Analytics Project</a:t>
            </a:r>
          </a:p>
          <a:p>
            <a:pPr algn="ctr">
              <a:lnSpc>
                <a:spcPts val="5487"/>
              </a:lnSpc>
              <a:spcBef>
                <a:spcPct val="0"/>
              </a:spcBef>
            </a:pPr>
          </a:p>
          <a:p>
            <a:pPr algn="ctr">
              <a:lnSpc>
                <a:spcPts val="5487"/>
              </a:lnSpc>
              <a:spcBef>
                <a:spcPct val="0"/>
              </a:spcBef>
            </a:pPr>
            <a:r>
              <a:rPr lang="en-US" sz="3919">
                <a:solidFill>
                  <a:srgbClr val="004AAD"/>
                </a:solidFill>
                <a:latin typeface="Archivo Black"/>
                <a:ea typeface="Archivo Black"/>
                <a:cs typeface="Archivo Black"/>
                <a:sym typeface="Archivo Black"/>
              </a:rPr>
              <a:t>Tools &amp; Technologies:</a:t>
            </a:r>
          </a:p>
          <a:p>
            <a:pPr algn="ctr">
              <a:lnSpc>
                <a:spcPts val="5487"/>
              </a:lnSpc>
              <a:spcBef>
                <a:spcPct val="0"/>
              </a:spcBef>
            </a:pPr>
          </a:p>
          <a:p>
            <a:pPr algn="ctr">
              <a:lnSpc>
                <a:spcPts val="5487"/>
              </a:lnSpc>
              <a:spcBef>
                <a:spcPct val="0"/>
              </a:spcBef>
            </a:pPr>
            <a:r>
              <a:rPr lang="en-US" sz="3919">
                <a:solidFill>
                  <a:srgbClr val="004AAD"/>
                </a:solidFill>
                <a:latin typeface="Archivo Black"/>
                <a:ea typeface="Archivo Black"/>
                <a:cs typeface="Archivo Black"/>
                <a:sym typeface="Archivo Black"/>
              </a:rPr>
              <a:t> Python | Pandas | NumPy | Matplotlib | Power BI | Git &amp; GitHub</a:t>
            </a:r>
          </a:p>
          <a:p>
            <a:pPr algn="ctr">
              <a:lnSpc>
                <a:spcPts val="5487"/>
              </a:lnSpc>
              <a:spcBef>
                <a:spcPct val="0"/>
              </a:spcBef>
            </a:pPr>
          </a:p>
          <a:p>
            <a:pPr algn="ctr">
              <a:lnSpc>
                <a:spcPts val="5487"/>
              </a:lnSpc>
              <a:spcBef>
                <a:spcPct val="0"/>
              </a:spcBef>
            </a:pPr>
            <a:r>
              <a:rPr lang="en-US" sz="3919">
                <a:solidFill>
                  <a:srgbClr val="004AAD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Presented by:</a:t>
            </a:r>
          </a:p>
          <a:p>
            <a:pPr algn="ctr">
              <a:lnSpc>
                <a:spcPts val="5487"/>
              </a:lnSpc>
              <a:spcBef>
                <a:spcPct val="0"/>
              </a:spcBef>
            </a:pPr>
            <a:r>
              <a:rPr lang="en-US" sz="3919">
                <a:solidFill>
                  <a:srgbClr val="004AAD"/>
                </a:solidFill>
                <a:latin typeface="Archivo Black"/>
                <a:ea typeface="Archivo Black"/>
                <a:cs typeface="Archivo Black"/>
                <a:sym typeface="Archivo Black"/>
              </a:rPr>
              <a:t> Vaishnavi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27447" cy="10287000"/>
          </a:xfrm>
          <a:custGeom>
            <a:avLst/>
            <a:gdLst/>
            <a:ahLst/>
            <a:cxnLst/>
            <a:rect r="r" b="b" t="t" l="l"/>
            <a:pathLst>
              <a:path h="10287000" w="18727447">
                <a:moveTo>
                  <a:pt x="0" y="0"/>
                </a:moveTo>
                <a:lnTo>
                  <a:pt x="18727447" y="0"/>
                </a:lnTo>
                <a:lnTo>
                  <a:pt x="1872744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01" r="0" b="-120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9271" y="309245"/>
            <a:ext cx="7112306" cy="10287000"/>
            <a:chOff x="0" y="0"/>
            <a:chExt cx="187320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32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73200">
                  <a:moveTo>
                    <a:pt x="0" y="0"/>
                  </a:moveTo>
                  <a:lnTo>
                    <a:pt x="1873200" y="0"/>
                  </a:lnTo>
                  <a:lnTo>
                    <a:pt x="18732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8732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543456" y="460049"/>
            <a:ext cx="10313899" cy="901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2"/>
              </a:lnSpc>
              <a:spcBef>
                <a:spcPct val="0"/>
              </a:spcBef>
            </a:pPr>
            <a:r>
              <a:rPr lang="en-US" sz="4301">
                <a:solidFill>
                  <a:srgbClr val="303642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Overview:</a:t>
            </a:r>
          </a:p>
          <a:p>
            <a:pPr algn="ctr">
              <a:lnSpc>
                <a:spcPts val="4650"/>
              </a:lnSpc>
              <a:spcBef>
                <a:spcPct val="0"/>
              </a:spcBef>
            </a:pPr>
            <a:r>
              <a:rPr lang="en-US" sz="3321">
                <a:solidFill>
                  <a:srgbClr val="303642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project focuses on analyzing online food delivery data to understand business performance and identify important trends.</a:t>
            </a:r>
          </a:p>
          <a:p>
            <a:pPr algn="ctr">
              <a:lnSpc>
                <a:spcPts val="5565"/>
              </a:lnSpc>
              <a:spcBef>
                <a:spcPct val="0"/>
              </a:spcBef>
            </a:pPr>
            <a:r>
              <a:rPr lang="en-US" sz="3975">
                <a:solidFill>
                  <a:srgbClr val="303642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Objectives:</a:t>
            </a:r>
          </a:p>
          <a:p>
            <a:pPr algn="ctr">
              <a:lnSpc>
                <a:spcPts val="4650"/>
              </a:lnSpc>
              <a:spcBef>
                <a:spcPct val="0"/>
              </a:spcBef>
            </a:pPr>
            <a:r>
              <a:rPr lang="en-US" sz="3321">
                <a:solidFill>
                  <a:srgbClr val="303642"/>
                </a:solidFill>
                <a:latin typeface="Archivo Black"/>
                <a:ea typeface="Archivo Black"/>
                <a:cs typeface="Archivo Black"/>
                <a:sym typeface="Archivo Black"/>
              </a:rPr>
              <a:t>Analyze sales and order performance</a:t>
            </a:r>
          </a:p>
          <a:p>
            <a:pPr algn="ctr">
              <a:lnSpc>
                <a:spcPts val="4650"/>
              </a:lnSpc>
              <a:spcBef>
                <a:spcPct val="0"/>
              </a:spcBef>
            </a:pPr>
            <a:r>
              <a:rPr lang="en-US" sz="3321">
                <a:solidFill>
                  <a:srgbClr val="303642"/>
                </a:solidFill>
                <a:latin typeface="Archivo Black"/>
                <a:ea typeface="Archivo Black"/>
                <a:cs typeface="Archivo Black"/>
                <a:sym typeface="Archivo Black"/>
              </a:rPr>
              <a:t>Identify high-performing cities and food categories</a:t>
            </a:r>
          </a:p>
          <a:p>
            <a:pPr algn="ctr">
              <a:lnSpc>
                <a:spcPts val="4650"/>
              </a:lnSpc>
              <a:spcBef>
                <a:spcPct val="0"/>
              </a:spcBef>
            </a:pPr>
            <a:r>
              <a:rPr lang="en-US" sz="3321">
                <a:solidFill>
                  <a:srgbClr val="303642"/>
                </a:solidFill>
                <a:latin typeface="Archivo Black"/>
                <a:ea typeface="Archivo Black"/>
                <a:cs typeface="Archivo Black"/>
                <a:sym typeface="Archivo Black"/>
              </a:rPr>
              <a:t>Analyze monthly sales trends</a:t>
            </a:r>
          </a:p>
          <a:p>
            <a:pPr algn="ctr">
              <a:lnSpc>
                <a:spcPts val="4650"/>
              </a:lnSpc>
              <a:spcBef>
                <a:spcPct val="0"/>
              </a:spcBef>
            </a:pPr>
            <a:r>
              <a:rPr lang="en-US" sz="3321">
                <a:solidFill>
                  <a:srgbClr val="303642"/>
                </a:solidFill>
                <a:latin typeface="Archivo Black"/>
                <a:ea typeface="Archivo Black"/>
                <a:cs typeface="Archivo Black"/>
                <a:sym typeface="Archivo Black"/>
              </a:rPr>
              <a:t>Understand order status and customer ratings</a:t>
            </a:r>
          </a:p>
          <a:p>
            <a:pPr algn="ctr">
              <a:lnSpc>
                <a:spcPts val="4650"/>
              </a:lnSpc>
              <a:spcBef>
                <a:spcPct val="0"/>
              </a:spcBef>
            </a:pPr>
            <a:r>
              <a:rPr lang="en-US" sz="3321">
                <a:solidFill>
                  <a:srgbClr val="303642"/>
                </a:solidFill>
                <a:latin typeface="Archivo Black"/>
                <a:ea typeface="Archivo Black"/>
                <a:cs typeface="Archivo Black"/>
                <a:sym typeface="Archivo Black"/>
              </a:rPr>
              <a:t>Identify important business patterns</a:t>
            </a:r>
          </a:p>
          <a:p>
            <a:pPr algn="ctr">
              <a:lnSpc>
                <a:spcPts val="4650"/>
              </a:lnSpc>
              <a:spcBef>
                <a:spcPct val="0"/>
              </a:spcBef>
            </a:pPr>
            <a:r>
              <a:rPr lang="en-US" sz="3321">
                <a:solidFill>
                  <a:srgbClr val="303642"/>
                </a:solidFill>
                <a:latin typeface="Archivo Black"/>
                <a:ea typeface="Archivo Black"/>
                <a:cs typeface="Archivo Black"/>
                <a:sym typeface="Archivo Black"/>
              </a:rPr>
              <a:t>Build an interactive Power BI dashboard</a:t>
            </a:r>
          </a:p>
          <a:p>
            <a:pPr algn="ctr">
              <a:lnSpc>
                <a:spcPts val="4650"/>
              </a:lnSpc>
              <a:spcBef>
                <a:spcPct val="0"/>
              </a:spcBef>
            </a:pPr>
            <a:r>
              <a:rPr lang="en-US" sz="3321">
                <a:solidFill>
                  <a:srgbClr val="303642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Provide data-driven business 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3986" y="2372187"/>
            <a:ext cx="6662877" cy="543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4"/>
              </a:lnSpc>
              <a:spcBef>
                <a:spcPct val="0"/>
              </a:spcBef>
            </a:pPr>
            <a:r>
              <a:rPr lang="en-US" sz="4431">
                <a:solidFill>
                  <a:srgbClr val="303642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 Statement</a:t>
            </a:r>
          </a:p>
          <a:p>
            <a:pPr algn="ctr">
              <a:lnSpc>
                <a:spcPts val="6204"/>
              </a:lnSpc>
              <a:spcBef>
                <a:spcPct val="0"/>
              </a:spcBef>
            </a:pPr>
            <a:r>
              <a:rPr lang="en-US" sz="4431">
                <a:solidFill>
                  <a:srgbClr val="303642"/>
                </a:solidFill>
                <a:latin typeface="Archivo Black"/>
                <a:ea typeface="Archivo Black"/>
                <a:cs typeface="Archivo Black"/>
                <a:sym typeface="Archivo Black"/>
              </a:rPr>
              <a:t>How can online food delivery data be analyzed to identify business trends and support better decision-making?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9357" y="208037"/>
            <a:ext cx="13946402" cy="1007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  <a:spcBef>
                <a:spcPct val="0"/>
              </a:spcBef>
            </a:pPr>
            <a:r>
              <a:rPr lang="en-US" b="true" sz="312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DATASET &amp; DATA PREPARATION: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DATASET OVERVIEW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INITIAL RECORDS: 3,010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FINAL RECORDS: 3,000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COLUMNS: 14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TYPE: SYNTHETIC ONLINE FOOD DELIVERY DATASET</a:t>
            </a:r>
          </a:p>
          <a:p>
            <a:pPr algn="l">
              <a:lnSpc>
                <a:spcPts val="3964"/>
              </a:lnSpc>
              <a:spcBef>
                <a:spcPct val="0"/>
              </a:spcBef>
            </a:pPr>
            <a:r>
              <a:rPr lang="en-US" b="true" sz="283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ATTRIBUTES: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ORDER ID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ORDER DATE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ID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CITY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RESTAURANT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FOOD CATEGORY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QUANTITY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PRICE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DISCOUNT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DELIVERY FEE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PAYMENT METHOD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ORDER STATUS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RATING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TOTAL AMOUNT</a:t>
            </a:r>
          </a:p>
          <a:p>
            <a:pPr algn="l">
              <a:lnSpc>
                <a:spcPts val="3825"/>
              </a:lnSpc>
              <a:spcBef>
                <a:spcPct val="0"/>
              </a:spcBef>
            </a:pPr>
            <a:r>
              <a:rPr lang="en-US" b="true" sz="273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PREPARATION: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CHECKED DATA TYPES AND DATA QUALITY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IDENTIFIED MISSING VALUES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REMOVED 10 DUPLICATE RECORDS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CHECKED INVALID QUANTITY AND PRICE VALUES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CONVERTED ORDER DATE TO DATETIME FORMAT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CREATED TOTAL SALES FOR ANALYSIS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45175" cy="10287000"/>
          </a:xfrm>
          <a:custGeom>
            <a:avLst/>
            <a:gdLst/>
            <a:ahLst/>
            <a:cxnLst/>
            <a:rect r="r" b="b" t="t" l="l"/>
            <a:pathLst>
              <a:path h="10287000" w="18545175">
                <a:moveTo>
                  <a:pt x="0" y="0"/>
                </a:moveTo>
                <a:lnTo>
                  <a:pt x="18545175" y="0"/>
                </a:lnTo>
                <a:lnTo>
                  <a:pt x="185451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3" r="0" b="-70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7175" y="9258300"/>
            <a:ext cx="18802350" cy="2006600"/>
            <a:chOff x="0" y="0"/>
            <a:chExt cx="4952059" cy="5284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52059" cy="528487"/>
            </a:xfrm>
            <a:custGeom>
              <a:avLst/>
              <a:gdLst/>
              <a:ahLst/>
              <a:cxnLst/>
              <a:rect r="r" b="b" t="t" l="l"/>
              <a:pathLst>
                <a:path h="528487" w="4952059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25076" y="293778"/>
            <a:ext cx="11622183" cy="4505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6"/>
              </a:lnSpc>
              <a:spcBef>
                <a:spcPct val="0"/>
              </a:spcBef>
            </a:pPr>
            <a:r>
              <a:rPr lang="en-US" sz="350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EDA Performed:</a:t>
            </a:r>
          </a:p>
          <a:p>
            <a:pPr algn="ctr">
              <a:lnSpc>
                <a:spcPts val="3445"/>
              </a:lnSpc>
              <a:spcBef>
                <a:spcPct val="0"/>
              </a:spcBef>
            </a:pPr>
            <a:r>
              <a:rPr lang="en-US" sz="24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 structure and summary statistics</a:t>
            </a:r>
          </a:p>
          <a:p>
            <a:pPr algn="ctr">
              <a:lnSpc>
                <a:spcPts val="3445"/>
              </a:lnSpc>
              <a:spcBef>
                <a:spcPct val="0"/>
              </a:spcBef>
            </a:pPr>
            <a:r>
              <a:rPr lang="en-US" sz="24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Missing-value analysis</a:t>
            </a:r>
          </a:p>
          <a:p>
            <a:pPr algn="ctr">
              <a:lnSpc>
                <a:spcPts val="3445"/>
              </a:lnSpc>
              <a:spcBef>
                <a:spcPct val="0"/>
              </a:spcBef>
            </a:pPr>
            <a:r>
              <a:rPr lang="en-US" sz="24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Duplicate detection</a:t>
            </a:r>
          </a:p>
          <a:p>
            <a:pPr algn="ctr">
              <a:lnSpc>
                <a:spcPts val="3445"/>
              </a:lnSpc>
              <a:spcBef>
                <a:spcPct val="0"/>
              </a:spcBef>
            </a:pPr>
            <a:r>
              <a:rPr lang="en-US" sz="24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City-wise sales analysis</a:t>
            </a:r>
          </a:p>
          <a:p>
            <a:pPr algn="ctr">
              <a:lnSpc>
                <a:spcPts val="3445"/>
              </a:lnSpc>
              <a:spcBef>
                <a:spcPct val="0"/>
              </a:spcBef>
            </a:pPr>
            <a:r>
              <a:rPr lang="en-US" sz="24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Food category analysis</a:t>
            </a:r>
          </a:p>
          <a:p>
            <a:pPr algn="ctr">
              <a:lnSpc>
                <a:spcPts val="3445"/>
              </a:lnSpc>
              <a:spcBef>
                <a:spcPct val="0"/>
              </a:spcBef>
            </a:pPr>
            <a:r>
              <a:rPr lang="en-US" sz="24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Restaurant-wise sales analysis</a:t>
            </a:r>
          </a:p>
          <a:p>
            <a:pPr algn="ctr">
              <a:lnSpc>
                <a:spcPts val="3445"/>
              </a:lnSpc>
              <a:spcBef>
                <a:spcPct val="0"/>
              </a:spcBef>
            </a:pPr>
            <a:r>
              <a:rPr lang="en-US" sz="24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Monthly sales trend analysis</a:t>
            </a:r>
          </a:p>
          <a:p>
            <a:pPr algn="ctr">
              <a:lnSpc>
                <a:spcPts val="3445"/>
              </a:lnSpc>
              <a:spcBef>
                <a:spcPct val="0"/>
              </a:spcBef>
            </a:pPr>
            <a:r>
              <a:rPr lang="en-US" sz="24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Correlation analysis</a:t>
            </a:r>
          </a:p>
          <a:p>
            <a:pPr algn="ctr">
              <a:lnSpc>
                <a:spcPts val="3445"/>
              </a:lnSpc>
              <a:spcBef>
                <a:spcPct val="0"/>
              </a:spcBef>
            </a:pPr>
            <a:r>
              <a:rPr lang="en-US" sz="24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Outlier detection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777" y="5007003"/>
            <a:ext cx="11870781" cy="396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1"/>
              </a:lnSpc>
              <a:spcBef>
                <a:spcPct val="0"/>
              </a:spcBef>
            </a:pPr>
            <a:r>
              <a:rPr lang="en-US" sz="37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Findings:</a:t>
            </a:r>
          </a:p>
          <a:p>
            <a:pPr algn="ctr">
              <a:lnSpc>
                <a:spcPts val="3786"/>
              </a:lnSpc>
              <a:spcBef>
                <a:spcPct val="0"/>
              </a:spcBef>
            </a:pPr>
            <a:r>
              <a:rPr lang="en-US" sz="270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Total Sales: ₹1.26M approximately</a:t>
            </a:r>
          </a:p>
          <a:p>
            <a:pPr algn="ctr">
              <a:lnSpc>
                <a:spcPts val="3786"/>
              </a:lnSpc>
              <a:spcBef>
                <a:spcPct val="0"/>
              </a:spcBef>
            </a:pPr>
            <a:r>
              <a:rPr lang="en-US" sz="270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Unique Orders: 3,000</a:t>
            </a:r>
          </a:p>
          <a:p>
            <a:pPr algn="ctr">
              <a:lnSpc>
                <a:spcPts val="3786"/>
              </a:lnSpc>
              <a:spcBef>
                <a:spcPct val="0"/>
              </a:spcBef>
            </a:pPr>
            <a:r>
              <a:rPr lang="en-US" sz="270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Average Sales per Order: ₹420.22</a:t>
            </a:r>
          </a:p>
          <a:p>
            <a:pPr algn="ctr">
              <a:lnSpc>
                <a:spcPts val="3786"/>
              </a:lnSpc>
              <a:spcBef>
                <a:spcPct val="0"/>
              </a:spcBef>
            </a:pPr>
            <a:r>
              <a:rPr lang="en-US" sz="270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Average Rating: 4.09 / 5</a:t>
            </a:r>
          </a:p>
          <a:p>
            <a:pPr algn="ctr">
              <a:lnSpc>
                <a:spcPts val="3786"/>
              </a:lnSpc>
              <a:spcBef>
                <a:spcPct val="0"/>
              </a:spcBef>
            </a:pPr>
            <a:r>
              <a:rPr lang="en-US" sz="270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Top City: Bengaluru</a:t>
            </a:r>
          </a:p>
          <a:p>
            <a:pPr algn="ctr">
              <a:lnSpc>
                <a:spcPts val="3786"/>
              </a:lnSpc>
              <a:spcBef>
                <a:spcPct val="0"/>
              </a:spcBef>
            </a:pPr>
            <a:r>
              <a:rPr lang="en-US" sz="270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Top Food Category: Pizza</a:t>
            </a:r>
          </a:p>
          <a:p>
            <a:pPr algn="ctr">
              <a:lnSpc>
                <a:spcPts val="3786"/>
              </a:lnSpc>
              <a:spcBef>
                <a:spcPct val="0"/>
              </a:spcBef>
            </a:pPr>
            <a:r>
              <a:rPr lang="en-US" sz="270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Highest Sales Month: May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01191" y="3507719"/>
            <a:ext cx="9473162" cy="5955947"/>
          </a:xfrm>
          <a:custGeom>
            <a:avLst/>
            <a:gdLst/>
            <a:ahLst/>
            <a:cxnLst/>
            <a:rect r="r" b="b" t="t" l="l"/>
            <a:pathLst>
              <a:path h="5955947" w="9473162">
                <a:moveTo>
                  <a:pt x="0" y="0"/>
                </a:moveTo>
                <a:lnTo>
                  <a:pt x="9473162" y="0"/>
                </a:lnTo>
                <a:lnTo>
                  <a:pt x="9473162" y="5955947"/>
                </a:lnTo>
                <a:lnTo>
                  <a:pt x="0" y="59559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9267" y="107940"/>
            <a:ext cx="9117703" cy="266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5"/>
              </a:lnSpc>
              <a:spcBef>
                <a:spcPct val="0"/>
              </a:spcBef>
            </a:pPr>
            <a:r>
              <a:rPr lang="en-US" sz="326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Visualizations:</a:t>
            </a:r>
          </a:p>
          <a:p>
            <a:pPr algn="l">
              <a:lnSpc>
                <a:spcPts val="4565"/>
              </a:lnSpc>
              <a:spcBef>
                <a:spcPct val="0"/>
              </a:spcBef>
            </a:pPr>
          </a:p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Monthly Sales Trend</a:t>
            </a:r>
          </a:p>
          <a:p>
            <a:pPr algn="l">
              <a:lnSpc>
                <a:spcPts val="4316"/>
              </a:lnSpc>
              <a:spcBef>
                <a:spcPct val="0"/>
              </a:spcBef>
            </a:pPr>
          </a:p>
          <a:p>
            <a:pPr algn="ctr">
              <a:lnSpc>
                <a:spcPts val="3248"/>
              </a:lnSpc>
              <a:spcBef>
                <a:spcPct val="0"/>
              </a:spcBef>
            </a:pPr>
            <a:r>
              <a:rPr lang="en-US" sz="232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Shows the variation in sales from January to December.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63121" y="3021506"/>
            <a:ext cx="9280602" cy="6081677"/>
          </a:xfrm>
          <a:custGeom>
            <a:avLst/>
            <a:gdLst/>
            <a:ahLst/>
            <a:cxnLst/>
            <a:rect r="r" b="b" t="t" l="l"/>
            <a:pathLst>
              <a:path h="6081677" w="9280602">
                <a:moveTo>
                  <a:pt x="0" y="0"/>
                </a:moveTo>
                <a:lnTo>
                  <a:pt x="9280602" y="0"/>
                </a:lnTo>
                <a:lnTo>
                  <a:pt x="9280602" y="6081677"/>
                </a:lnTo>
                <a:lnTo>
                  <a:pt x="0" y="608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83059" y="952500"/>
            <a:ext cx="10921128" cy="121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6"/>
              </a:lnSpc>
              <a:spcBef>
                <a:spcPct val="0"/>
              </a:spcBef>
            </a:pPr>
            <a:r>
              <a:rPr lang="en-US" sz="399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Sales by City</a:t>
            </a:r>
          </a:p>
          <a:p>
            <a:pPr algn="ctr">
              <a:lnSpc>
                <a:spcPts val="4196"/>
              </a:lnSpc>
              <a:spcBef>
                <a:spcPct val="0"/>
              </a:spcBef>
            </a:pPr>
            <a:r>
              <a:rPr lang="en-US" sz="299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Compares the sales performance of different cities.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33261" y="3040314"/>
            <a:ext cx="9620222" cy="6004110"/>
          </a:xfrm>
          <a:custGeom>
            <a:avLst/>
            <a:gdLst/>
            <a:ahLst/>
            <a:cxnLst/>
            <a:rect r="r" b="b" t="t" l="l"/>
            <a:pathLst>
              <a:path h="6004110" w="9620222">
                <a:moveTo>
                  <a:pt x="0" y="0"/>
                </a:moveTo>
                <a:lnTo>
                  <a:pt x="9620222" y="0"/>
                </a:lnTo>
                <a:lnTo>
                  <a:pt x="9620222" y="6004111"/>
                </a:lnTo>
                <a:lnTo>
                  <a:pt x="0" y="6004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09606" y="942975"/>
            <a:ext cx="13387884" cy="1119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4"/>
              </a:lnSpc>
              <a:spcBef>
                <a:spcPct val="0"/>
              </a:spcBef>
            </a:pPr>
            <a:r>
              <a:rPr lang="en-US" sz="372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Sales by Food Category</a:t>
            </a:r>
          </a:p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262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Identifies the highest-performing food categories.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27824" cy="10287000"/>
          </a:xfrm>
          <a:custGeom>
            <a:avLst/>
            <a:gdLst/>
            <a:ahLst/>
            <a:cxnLst/>
            <a:rect r="r" b="b" t="t" l="l"/>
            <a:pathLst>
              <a:path h="10287000" w="18427824">
                <a:moveTo>
                  <a:pt x="0" y="0"/>
                </a:moveTo>
                <a:lnTo>
                  <a:pt x="18427824" y="0"/>
                </a:lnTo>
                <a:lnTo>
                  <a:pt x="184278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2" r="0" b="-38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98092" y="3355937"/>
            <a:ext cx="7731264" cy="5902363"/>
          </a:xfrm>
          <a:custGeom>
            <a:avLst/>
            <a:gdLst/>
            <a:ahLst/>
            <a:cxnLst/>
            <a:rect r="r" b="b" t="t" l="l"/>
            <a:pathLst>
              <a:path h="5902363" w="7731264">
                <a:moveTo>
                  <a:pt x="0" y="0"/>
                </a:moveTo>
                <a:lnTo>
                  <a:pt x="7731264" y="0"/>
                </a:lnTo>
                <a:lnTo>
                  <a:pt x="7731264" y="5902363"/>
                </a:lnTo>
                <a:lnTo>
                  <a:pt x="0" y="59023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60334" y="1312048"/>
            <a:ext cx="14247734" cy="115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9"/>
              </a:lnSpc>
              <a:spcBef>
                <a:spcPct val="0"/>
              </a:spcBef>
            </a:pPr>
            <a:r>
              <a:rPr lang="en-US" sz="354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Order Status Distribution</a:t>
            </a:r>
          </a:p>
          <a:p>
            <a:pPr algn="ctr">
              <a:lnSpc>
                <a:spcPts val="4259"/>
              </a:lnSpc>
              <a:spcBef>
                <a:spcPct val="0"/>
              </a:spcBef>
            </a:pPr>
            <a:r>
              <a:rPr lang="en-US" sz="304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Shows the proportion of delivered, cancelled, and returned orders.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0295" y="0"/>
            <a:ext cx="18927196" cy="10287000"/>
          </a:xfrm>
          <a:custGeom>
            <a:avLst/>
            <a:gdLst/>
            <a:ahLst/>
            <a:cxnLst/>
            <a:rect r="r" b="b" t="t" l="l"/>
            <a:pathLst>
              <a:path h="10287000" w="18927196">
                <a:moveTo>
                  <a:pt x="0" y="0"/>
                </a:moveTo>
                <a:lnTo>
                  <a:pt x="18927196" y="0"/>
                </a:lnTo>
                <a:lnTo>
                  <a:pt x="189271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47" r="0" b="-17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23104" y="3277129"/>
            <a:ext cx="7839783" cy="5981171"/>
          </a:xfrm>
          <a:custGeom>
            <a:avLst/>
            <a:gdLst/>
            <a:ahLst/>
            <a:cxnLst/>
            <a:rect r="r" b="b" t="t" l="l"/>
            <a:pathLst>
              <a:path h="5981171" w="7839783">
                <a:moveTo>
                  <a:pt x="0" y="0"/>
                </a:moveTo>
                <a:lnTo>
                  <a:pt x="7839783" y="0"/>
                </a:lnTo>
                <a:lnTo>
                  <a:pt x="7839783" y="5981171"/>
                </a:lnTo>
                <a:lnTo>
                  <a:pt x="0" y="59811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24320" y="1093249"/>
            <a:ext cx="10937966" cy="1364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4"/>
              </a:lnSpc>
              <a:spcBef>
                <a:spcPct val="0"/>
              </a:spcBef>
            </a:pPr>
            <a:r>
              <a:rPr lang="en-US" b="true" sz="500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PAYMENT METHOD DISTRIBUTION</a:t>
            </a:r>
          </a:p>
          <a:p>
            <a:pPr algn="ctr">
              <a:lnSpc>
                <a:spcPts val="3856"/>
              </a:lnSpc>
              <a:spcBef>
                <a:spcPct val="0"/>
              </a:spcBef>
            </a:pPr>
            <a:r>
              <a:rPr lang="en-US" b="true" sz="275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HIGHLIGHTS CUSTOMER PAYMENT PREFERENCES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9849"/>
            <a:ext cx="18288000" cy="10412098"/>
          </a:xfrm>
          <a:custGeom>
            <a:avLst/>
            <a:gdLst/>
            <a:ahLst/>
            <a:cxnLst/>
            <a:rect r="r" b="b" t="t" l="l"/>
            <a:pathLst>
              <a:path h="10412098" w="18288000">
                <a:moveTo>
                  <a:pt x="0" y="0"/>
                </a:moveTo>
                <a:lnTo>
                  <a:pt x="18288000" y="0"/>
                </a:lnTo>
                <a:lnTo>
                  <a:pt x="18288000" y="10412097"/>
                </a:lnTo>
                <a:lnTo>
                  <a:pt x="0" y="10412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21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0765" y="281854"/>
            <a:ext cx="16988535" cy="763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1"/>
              </a:lnSpc>
              <a:spcBef>
                <a:spcPct val="0"/>
              </a:spcBef>
            </a:pPr>
            <a:r>
              <a:rPr lang="en-US" b="true" sz="335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POWER BI DASHBOARD:</a:t>
            </a:r>
          </a:p>
          <a:p>
            <a:pPr algn="ctr">
              <a:lnSpc>
                <a:spcPts val="3665"/>
              </a:lnSpc>
              <a:spcBef>
                <a:spcPct val="0"/>
              </a:spcBef>
            </a:pPr>
            <a:r>
              <a:rPr lang="en-US" b="true" sz="261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INTERACTIVE POWER BI DASHBOARD</a:t>
            </a:r>
          </a:p>
          <a:p>
            <a:pPr algn="ctr">
              <a:lnSpc>
                <a:spcPts val="3665"/>
              </a:lnSpc>
              <a:spcBef>
                <a:spcPct val="0"/>
              </a:spcBef>
            </a:pPr>
          </a:p>
          <a:p>
            <a:pPr algn="ctr">
              <a:lnSpc>
                <a:spcPts val="2933"/>
              </a:lnSpc>
              <a:spcBef>
                <a:spcPct val="0"/>
              </a:spcBef>
            </a:pPr>
            <a:r>
              <a:rPr lang="en-US" b="true" sz="209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POWER BI DASHBOARD PROVIDES AN INTERACTIVE VIEW OF THE OVERALL FOOD DELIVERY BUSINESS PERFORMANCE.</a:t>
            </a:r>
          </a:p>
          <a:p>
            <a:pPr algn="ctr">
              <a:lnSpc>
                <a:spcPts val="3665"/>
              </a:lnSpc>
              <a:spcBef>
                <a:spcPct val="0"/>
              </a:spcBef>
            </a:pPr>
          </a:p>
          <a:p>
            <a:pPr algn="l">
              <a:lnSpc>
                <a:spcPts val="4105"/>
              </a:lnSpc>
              <a:spcBef>
                <a:spcPct val="0"/>
              </a:spcBef>
            </a:pPr>
            <a:r>
              <a:rPr lang="en-US" b="true" sz="293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PERFORMANCE INDICATORS:</a:t>
            </a:r>
          </a:p>
          <a:p>
            <a:pPr algn="l">
              <a:lnSpc>
                <a:spcPts val="4105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KPI VALUE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TOTAL SALES ₹1.24M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TOTAL ORDERS 3K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AVERAGE RATING 4.09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DASHBOARD COMPONENTS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MONTHLY TOTAL SALES TREND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TOTAL SALES BY CITY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TOTAL SALES BY FOOD CATEGORY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ORDER STATUS DISTRIBUTION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FOOD CATEGORY FILTER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CITY FILTER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527701" y="3075808"/>
            <a:ext cx="9731599" cy="5590484"/>
          </a:xfrm>
          <a:custGeom>
            <a:avLst/>
            <a:gdLst/>
            <a:ahLst/>
            <a:cxnLst/>
            <a:rect r="r" b="b" t="t" l="l"/>
            <a:pathLst>
              <a:path h="5590484" w="9731599">
                <a:moveTo>
                  <a:pt x="0" y="0"/>
                </a:moveTo>
                <a:lnTo>
                  <a:pt x="9731599" y="0"/>
                </a:lnTo>
                <a:lnTo>
                  <a:pt x="9731599" y="5590484"/>
                </a:lnTo>
                <a:lnTo>
                  <a:pt x="0" y="5590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012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9405" y="519855"/>
            <a:ext cx="15429191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1"/>
              </a:lnSpc>
              <a:spcBef>
                <a:spcPct val="0"/>
              </a:spcBef>
            </a:pPr>
            <a:r>
              <a:rPr lang="en-US" b="true" sz="530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BUSINESS INSIGHTS &amp; RECOMMENDATIONS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5685" y="1695156"/>
            <a:ext cx="18271899" cy="799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7"/>
              </a:lnSpc>
              <a:spcBef>
                <a:spcPct val="0"/>
              </a:spcBef>
            </a:pPr>
            <a:r>
              <a:rPr lang="en-US" b="true" sz="32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MAJOR BUSINESS INSIGHTS:</a:t>
            </a:r>
          </a:p>
          <a:p>
            <a:pPr algn="ctr">
              <a:lnSpc>
                <a:spcPts val="4527"/>
              </a:lnSpc>
              <a:spcBef>
                <a:spcPct val="0"/>
              </a:spcBef>
            </a:pPr>
          </a:p>
          <a:p>
            <a:pPr algn="l">
              <a:lnSpc>
                <a:spcPts val="3765"/>
              </a:lnSpc>
              <a:spcBef>
                <a:spcPct val="0"/>
              </a:spcBef>
            </a:pPr>
            <a:r>
              <a:rPr lang="en-US" b="true" sz="268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BENGALURU GENERATED THE HIGHEST SALES AMONG THE CITIES.</a:t>
            </a:r>
          </a:p>
          <a:p>
            <a:pPr algn="l">
              <a:lnSpc>
                <a:spcPts val="3765"/>
              </a:lnSpc>
              <a:spcBef>
                <a:spcPct val="0"/>
              </a:spcBef>
            </a:pPr>
            <a:r>
              <a:rPr lang="en-US" b="true" sz="268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PIZZA WAS THE HIGHEST-PERFORMING FOOD CATEGORY.</a:t>
            </a:r>
          </a:p>
          <a:p>
            <a:pPr algn="l">
              <a:lnSpc>
                <a:spcPts val="3765"/>
              </a:lnSpc>
              <a:spcBef>
                <a:spcPct val="0"/>
              </a:spcBef>
            </a:pPr>
            <a:r>
              <a:rPr lang="en-US" b="true" sz="268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BIRYANI ALSO SHOWED STRONG SALES PERFORMANCE.</a:t>
            </a:r>
          </a:p>
          <a:p>
            <a:pPr algn="l">
              <a:lnSpc>
                <a:spcPts val="3765"/>
              </a:lnSpc>
              <a:spcBef>
                <a:spcPct val="0"/>
              </a:spcBef>
            </a:pPr>
            <a:r>
              <a:rPr lang="en-US" b="true" sz="268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MAY RECORDED THE HIGHEST MONTHLY SALES.</a:t>
            </a:r>
          </a:p>
          <a:p>
            <a:pPr algn="l">
              <a:lnSpc>
                <a:spcPts val="3765"/>
              </a:lnSpc>
              <a:spcBef>
                <a:spcPct val="0"/>
              </a:spcBef>
            </a:pPr>
            <a:r>
              <a:rPr lang="en-US" b="true" sz="268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87.91% OF ORDERS WERE DELIVERED SUCCESSFULLY.</a:t>
            </a:r>
          </a:p>
          <a:p>
            <a:pPr algn="l">
              <a:lnSpc>
                <a:spcPts val="3765"/>
              </a:lnSpc>
              <a:spcBef>
                <a:spcPct val="0"/>
              </a:spcBef>
            </a:pPr>
            <a:r>
              <a:rPr lang="en-US" b="true" sz="268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OVERALL AVERAGE CUSTOMER RATING WAS 4.09/5.</a:t>
            </a:r>
          </a:p>
          <a:p>
            <a:pPr algn="l">
              <a:lnSpc>
                <a:spcPts val="3765"/>
              </a:lnSpc>
              <a:spcBef>
                <a:spcPct val="0"/>
              </a:spcBef>
            </a:pPr>
          </a:p>
          <a:p>
            <a:pPr algn="l">
              <a:lnSpc>
                <a:spcPts val="3765"/>
              </a:lnSpc>
              <a:spcBef>
                <a:spcPct val="0"/>
              </a:spcBef>
            </a:pPr>
          </a:p>
          <a:p>
            <a:pPr algn="ctr">
              <a:lnSpc>
                <a:spcPts val="4527"/>
              </a:lnSpc>
              <a:spcBef>
                <a:spcPct val="0"/>
              </a:spcBef>
            </a:pPr>
            <a:r>
              <a:rPr lang="en-US" b="true" sz="32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RECOMMENDATIONS:</a:t>
            </a:r>
          </a:p>
          <a:p>
            <a:pPr algn="ctr">
              <a:lnSpc>
                <a:spcPts val="4527"/>
              </a:lnSpc>
              <a:spcBef>
                <a:spcPct val="0"/>
              </a:spcBef>
            </a:pPr>
          </a:p>
          <a:p>
            <a:pPr algn="l">
              <a:lnSpc>
                <a:spcPts val="3765"/>
              </a:lnSpc>
              <a:spcBef>
                <a:spcPct val="0"/>
              </a:spcBef>
            </a:pPr>
            <a:r>
              <a:rPr lang="en-US" b="true" sz="268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PROMOTE HIGH-PERFORMING CATEGORIES SUCH AS PIZZA AND BIRYANI.</a:t>
            </a:r>
          </a:p>
          <a:p>
            <a:pPr algn="l">
              <a:lnSpc>
                <a:spcPts val="3765"/>
              </a:lnSpc>
              <a:spcBef>
                <a:spcPct val="0"/>
              </a:spcBef>
            </a:pPr>
            <a:r>
              <a:rPr lang="en-US" b="true" sz="268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STRENGTHEN MARKETING AND RESTAURANT PARTNERSHIPS IN HIGH-PERFORMING CITIES.</a:t>
            </a:r>
          </a:p>
          <a:p>
            <a:pPr algn="l">
              <a:lnSpc>
                <a:spcPts val="3765"/>
              </a:lnSpc>
              <a:spcBef>
                <a:spcPct val="0"/>
              </a:spcBef>
            </a:pPr>
            <a:r>
              <a:rPr lang="en-US" b="true" sz="268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INTRODUCE TARGETED OFFERS DURING LOWER-SALES MONTHS.</a:t>
            </a:r>
          </a:p>
          <a:p>
            <a:pPr algn="l">
              <a:lnSpc>
                <a:spcPts val="3765"/>
              </a:lnSpc>
              <a:spcBef>
                <a:spcPct val="0"/>
              </a:spcBef>
            </a:pPr>
            <a:r>
              <a:rPr lang="en-US" b="true" sz="268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MONITOR CANCELLED AND RETURNED ORDERS TO IMPROVE SERVICE QUALITY.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85220" cy="10287000"/>
          </a:xfrm>
          <a:custGeom>
            <a:avLst/>
            <a:gdLst/>
            <a:ahLst/>
            <a:cxnLst/>
            <a:rect r="r" b="b" t="t" l="l"/>
            <a:pathLst>
              <a:path h="10287000" w="18485220">
                <a:moveTo>
                  <a:pt x="0" y="0"/>
                </a:moveTo>
                <a:lnTo>
                  <a:pt x="18485220" y="0"/>
                </a:lnTo>
                <a:lnTo>
                  <a:pt x="184852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39" r="0" b="-53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27449" y="923925"/>
            <a:ext cx="4819531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1"/>
              </a:lnSpc>
              <a:spcBef>
                <a:spcPct val="0"/>
              </a:spcBef>
            </a:pPr>
            <a:r>
              <a:rPr lang="en-US" b="true" sz="530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4971" y="3527515"/>
            <a:ext cx="17104486" cy="4397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2"/>
              </a:lnSpc>
              <a:spcBef>
                <a:spcPct val="0"/>
              </a:spcBef>
            </a:pPr>
            <a:r>
              <a:rPr lang="en-US" b="true" sz="31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SUCCESSFULLY COMPLETED AN END-TO-END DATA ANALYTICS PROJECT.</a:t>
            </a:r>
          </a:p>
          <a:p>
            <a:pPr algn="ctr">
              <a:lnSpc>
                <a:spcPts val="4382"/>
              </a:lnSpc>
              <a:spcBef>
                <a:spcPct val="0"/>
              </a:spcBef>
            </a:pPr>
            <a:r>
              <a:rPr lang="en-US" b="true" sz="31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CLEANED AND PREPARED THE FOOD DELIVERY DATASET.</a:t>
            </a:r>
          </a:p>
          <a:p>
            <a:pPr algn="ctr">
              <a:lnSpc>
                <a:spcPts val="4382"/>
              </a:lnSpc>
              <a:spcBef>
                <a:spcPct val="0"/>
              </a:spcBef>
            </a:pPr>
            <a:r>
              <a:rPr lang="en-US" b="true" sz="31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PERFORMED EXPLORATORY DATA ANALYSIS TO IDENTIFY IMPORTANT PATTERNS.</a:t>
            </a:r>
          </a:p>
          <a:p>
            <a:pPr algn="ctr">
              <a:lnSpc>
                <a:spcPts val="4382"/>
              </a:lnSpc>
              <a:spcBef>
                <a:spcPct val="0"/>
              </a:spcBef>
            </a:pPr>
            <a:r>
              <a:rPr lang="en-US" b="true" sz="31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CREATED MEANINGFUL DATA VISUALIZATIONS USING PYTHON.</a:t>
            </a:r>
          </a:p>
          <a:p>
            <a:pPr algn="ctr">
              <a:lnSpc>
                <a:spcPts val="4382"/>
              </a:lnSpc>
              <a:spcBef>
                <a:spcPct val="0"/>
              </a:spcBef>
            </a:pPr>
            <a:r>
              <a:rPr lang="en-US" b="true" sz="31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DEVELOPED AN INTERACTIVE POWER BI DASHBOARD.</a:t>
            </a:r>
          </a:p>
          <a:p>
            <a:pPr algn="ctr">
              <a:lnSpc>
                <a:spcPts val="4382"/>
              </a:lnSpc>
              <a:spcBef>
                <a:spcPct val="0"/>
              </a:spcBef>
            </a:pPr>
            <a:r>
              <a:rPr lang="en-US" b="true" sz="31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IDENTIFIED MAJOR BUSINESS INSIGHTS FROM SALES AND ORDER DATA.</a:t>
            </a:r>
          </a:p>
          <a:p>
            <a:pPr algn="ctr">
              <a:lnSpc>
                <a:spcPts val="4382"/>
              </a:lnSpc>
              <a:spcBef>
                <a:spcPct val="0"/>
              </a:spcBef>
            </a:pPr>
            <a:r>
              <a:rPr lang="en-US" b="true" sz="31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PROVIDED ACTIONABLE RECOMMENDATIONS BASED ON THE ANALYSIS.</a:t>
            </a:r>
          </a:p>
          <a:p>
            <a:pPr algn="ctr">
              <a:lnSpc>
                <a:spcPts val="4382"/>
              </a:lnSpc>
              <a:spcBef>
                <a:spcPct val="0"/>
              </a:spcBef>
            </a:pPr>
            <a:r>
              <a:rPr lang="en-US" b="true" sz="31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USED GIT AND GITHUB FOR PROJECT VERSION CONTROL AND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DAHU31NJn-s</dc:identifier>
  <dcterms:modified xsi:type="dcterms:W3CDTF">2011-08-01T06:04:30Z</dcterms:modified>
  <cp:revision>1</cp:revision>
  <dc:title>Blue &amp; white company profile presentation</dc:title>
</cp:coreProperties>
</file>